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70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67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SRE Investigation with OpenSRE</a:t>
            </a:r>
            <a:endParaRPr lang="en-US" sz="38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86DFEF0-3A80-7BC4-201B-F30FEE10AD3F}"/>
              </a:ext>
            </a:extLst>
          </p:cNvPr>
          <p:cNvSpPr/>
          <p:nvPr/>
        </p:nvSpPr>
        <p:spPr>
          <a:xfrm>
            <a:off x="640080" y="622029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Vyom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65860"/>
            <a:ext cx="10332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chemeClr val="bg1"/>
                </a:solidFill>
              </a:rPr>
              <a:t>OpenSRE</a:t>
            </a:r>
            <a:r>
              <a:rPr lang="en-US" dirty="0">
                <a:solidFill>
                  <a:schemeClr val="bg1"/>
                </a:solidFill>
              </a:rPr>
              <a:t> is an open-source AI SRE platform that investigates production incidents autonomously. When an alert fires, </a:t>
            </a:r>
            <a:r>
              <a:rPr lang="en-US" dirty="0" err="1">
                <a:solidFill>
                  <a:schemeClr val="bg1"/>
                </a:solidFill>
              </a:rPr>
              <a:t>OpenSRE's</a:t>
            </a:r>
            <a:r>
              <a:rPr lang="en-US" dirty="0">
                <a:solidFill>
                  <a:schemeClr val="bg1"/>
                </a:solidFill>
              </a:rPr>
              <a:t> AI agents gather context from your observability stack, reason about root causes, and produce a detailed incident report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4036127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Autonomous Incident Investigation</a:t>
            </a:r>
          </a:p>
          <a:p>
            <a:pPr marL="0" indent="0">
              <a:buNone/>
            </a:pP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5400" y="46718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Episodic Memory System</a:t>
            </a:r>
          </a:p>
        </p:txBody>
      </p:sp>
      <p:sp>
        <p:nvSpPr>
          <p:cNvPr id="12" name="Shape 10"/>
          <p:cNvSpPr/>
          <p:nvPr/>
        </p:nvSpPr>
        <p:spPr>
          <a:xfrm>
            <a:off x="640080" y="5943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943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536468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Integrations 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B62E982A-D269-A8B1-76B5-6516DC3F75D6}"/>
              </a:ext>
            </a:extLst>
          </p:cNvPr>
          <p:cNvSpPr/>
          <p:nvPr/>
        </p:nvSpPr>
        <p:spPr>
          <a:xfrm>
            <a:off x="640080" y="398678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8C919149-011B-78E7-F075-BC95AA1ECD60}"/>
              </a:ext>
            </a:extLst>
          </p:cNvPr>
          <p:cNvSpPr/>
          <p:nvPr/>
        </p:nvSpPr>
        <p:spPr>
          <a:xfrm>
            <a:off x="1371600" y="5936283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Knowledge Graph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88720" y="137160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94560" y="1920240"/>
            <a:ext cx="274320" cy="274320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212848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2128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FoodHub Frontend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94560" y="2761488"/>
            <a:ext cx="274320" cy="274320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3054096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05409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94560" y="3602736"/>
            <a:ext cx="274320" cy="274320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3895344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895344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Svc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75104" y="3895344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/>
        </p:spPr>
      </p:sp>
      <p:sp>
        <p:nvSpPr>
          <p:cNvPr id="15" name="Text 13"/>
          <p:cNvSpPr/>
          <p:nvPr/>
        </p:nvSpPr>
        <p:spPr>
          <a:xfrm>
            <a:off x="1975104" y="3895344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Svc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61488" y="3895344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/>
        </p:spPr>
      </p:sp>
      <p:sp>
        <p:nvSpPr>
          <p:cNvPr id="17" name="Text 15"/>
          <p:cNvSpPr/>
          <p:nvPr/>
        </p:nvSpPr>
        <p:spPr>
          <a:xfrm>
            <a:off x="2761488" y="3895344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Svc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94560" y="4718304"/>
            <a:ext cx="274320" cy="274320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5010912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50109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46320" y="1371600"/>
            <a:ext cx="6766560" cy="4572000"/>
          </a:xfrm>
          <a:prstGeom prst="roundRect">
            <a:avLst>
              <a:gd name="adj" fmla="val 2000"/>
            </a:avLst>
          </a:prstGeom>
          <a:solidFill>
            <a:srgbClr val="F7F7F9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15544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Flow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20640" y="2103120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70" dirty="0"/>
          </a:p>
        </p:txBody>
      </p:sp>
      <p:sp>
        <p:nvSpPr>
          <p:cNvPr id="25" name="Text 23"/>
          <p:cNvSpPr/>
          <p:nvPr/>
        </p:nvSpPr>
        <p:spPr>
          <a:xfrm>
            <a:off x="5669280" y="20574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accesses the FoodHub web application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120640" y="2816352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5669280" y="277063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receives the request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120640" y="3529584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3529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5669280" y="3483864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routes to the appropriate microservice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120640" y="4242816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4242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5669280" y="41970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reads/writes PostgreSQL as needed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120640" y="4956048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4956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70" dirty="0"/>
          </a:p>
        </p:txBody>
      </p:sp>
      <p:sp>
        <p:nvSpPr>
          <p:cNvPr id="37" name="Text 35"/>
          <p:cNvSpPr/>
          <p:nvPr/>
        </p:nvSpPr>
        <p:spPr>
          <a:xfrm>
            <a:off x="5669280" y="491032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returns to the user through the Gateway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OpenSRE Fits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sits on top of the observability stack — it is not deployed in this repository, but the repository provides everything it needs.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48556" y="18288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4448556" y="18288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FoodHub Microservices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57316" y="2395728"/>
            <a:ext cx="274320" cy="274320"/>
          </a:xfrm>
          <a:prstGeom prst="downArrow">
            <a:avLst/>
          </a:prstGeom>
          <a:solidFill>
            <a:srgbClr val="70789C"/>
          </a:solidFill>
          <a:ln/>
        </p:spPr>
      </p:sp>
      <p:sp>
        <p:nvSpPr>
          <p:cNvPr id="7" name="Shape 5"/>
          <p:cNvSpPr/>
          <p:nvPr/>
        </p:nvSpPr>
        <p:spPr>
          <a:xfrm>
            <a:off x="4448556" y="2688336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4448556" y="268833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Actuator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57316" y="3255264"/>
            <a:ext cx="274320" cy="274320"/>
          </a:xfrm>
          <a:prstGeom prst="downArrow">
            <a:avLst/>
          </a:prstGeom>
          <a:solidFill>
            <a:srgbClr val="70789C"/>
          </a:solidFill>
          <a:ln/>
        </p:spPr>
      </p:sp>
      <p:sp>
        <p:nvSpPr>
          <p:cNvPr id="10" name="Shape 8"/>
          <p:cNvSpPr/>
          <p:nvPr/>
        </p:nvSpPr>
        <p:spPr>
          <a:xfrm>
            <a:off x="4448556" y="3547872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448556" y="354787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Collector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57316" y="4114800"/>
            <a:ext cx="274320" cy="274320"/>
          </a:xfrm>
          <a:prstGeom prst="downArrow">
            <a:avLst/>
          </a:prstGeom>
          <a:solidFill>
            <a:srgbClr val="70789C"/>
          </a:solidFill>
          <a:ln/>
        </p:spPr>
      </p:sp>
      <p:sp>
        <p:nvSpPr>
          <p:cNvPr id="13" name="Shape 11"/>
          <p:cNvSpPr/>
          <p:nvPr/>
        </p:nvSpPr>
        <p:spPr>
          <a:xfrm>
            <a:off x="4448556" y="4407408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4448556" y="440740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 VictoriaMetrics / Grafana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57316" y="4974336"/>
            <a:ext cx="274320" cy="274320"/>
          </a:xfrm>
          <a:prstGeom prst="downArrow">
            <a:avLst/>
          </a:prstGeom>
          <a:solidFill>
            <a:srgbClr val="70789C"/>
          </a:solidFill>
          <a:ln/>
        </p:spPr>
      </p:sp>
      <p:sp>
        <p:nvSpPr>
          <p:cNvPr id="16" name="Shape 14"/>
          <p:cNvSpPr/>
          <p:nvPr/>
        </p:nvSpPr>
        <p:spPr>
          <a:xfrm>
            <a:off x="4448556" y="5266944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448556" y="52669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— AI Investigation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Tools to OpenSRE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observability tool plugs into OpenSRE through its own API or query interface — OpenSRE reads from all of them to build one investigation.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50392" y="19202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2996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pulled via the PromQL query API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51076" y="3392424"/>
            <a:ext cx="274320" cy="256032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8" name="Shape 6"/>
          <p:cNvSpPr/>
          <p:nvPr/>
        </p:nvSpPr>
        <p:spPr>
          <a:xfrm>
            <a:off x="2980944" y="19202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3090672" y="202996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90672" y="2514600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alert rules via the Grafana HTTP API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81628" y="3392424"/>
            <a:ext cx="274320" cy="256032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12" name="Shape 10"/>
          <p:cNvSpPr/>
          <p:nvPr/>
        </p:nvSpPr>
        <p:spPr>
          <a:xfrm>
            <a:off x="5111496" y="19202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5221224" y="202996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API Server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21224" y="2514600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Pods, deployments, services &amp; events via kubectl / K8s 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12180" y="3392424"/>
            <a:ext cx="274320" cy="256032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16" name="Shape 14"/>
          <p:cNvSpPr/>
          <p:nvPr/>
        </p:nvSpPr>
        <p:spPr>
          <a:xfrm>
            <a:off x="7242048" y="19202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351776" y="202996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 Collector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51776" y="2514600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traces &amp; spans via OTLP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42732" y="3392424"/>
            <a:ext cx="274320" cy="256032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20" name="Shape 18"/>
          <p:cNvSpPr/>
          <p:nvPr/>
        </p:nvSpPr>
        <p:spPr>
          <a:xfrm>
            <a:off x="9372600" y="19202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9482328" y="202996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Logs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82328" y="2514600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logs via the Kubernetes logging API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273284" y="3392424"/>
            <a:ext cx="274320" cy="256032"/>
          </a:xfrm>
          <a:prstGeom prst="downArrow">
            <a:avLst/>
          </a:prstGeom>
          <a:solidFill>
            <a:srgbClr val="5B6270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" y="3840480"/>
            <a:ext cx="10488168" cy="868680"/>
          </a:xfrm>
          <a:prstGeom prst="roundRect">
            <a:avLst>
              <a:gd name="adj" fmla="val 10526"/>
            </a:avLst>
          </a:prstGeom>
          <a:solidFill>
            <a:srgbClr val="1B234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" y="3840480"/>
            <a:ext cx="10488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OpenSRE — Correlation &amp; Investigation Engine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4983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is replaced — OpenSRE sits above them and reasons across their combined signal.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the Endpoints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integration needs its own endpoint and credentials set up before OpenSRE (or CI/CD) can reach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(EKS)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endpoint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1B234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eks update-kubeconfig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--name foodhub --region &lt;region&gt;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API server endpoint &amp; CA cert from EKS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it into kubeconfig so tools point at the cluster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an IAM role / OIDC provider for secure, scoped access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88536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7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17136" y="196596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965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17136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17136" y="288036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1B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4608576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https://&lt;grafana-host&gt;/api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17136" y="356616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GF_SERVER_ROOT_URL to the public Grafana URL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service account API key/token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endpoint + token as a data source in OpenSRE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74152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7F7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302752" y="196596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1B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1965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02752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/ Actions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02752" y="288036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1B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https://api.github.com/repos/&lt;org&gt;/foodhub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02752" y="356616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repo secrets (KUBE_CONFIG, AWS_ROLE_ARN, etc.)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webhook URL for CI/CD event triggers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Actions workflow at the cluster &amp; registry endpoints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the Endpoints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applies to the core observability endpoints already running inside the cluster.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/ query endpoint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1B234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http://prometheus:9090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/actuator/prometheus on each microservice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scrape job &amp; target in prometheus.yml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OpenSRE at the Prometheus query API endpoint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88536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7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17136" y="196596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965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API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17136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API server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17136" y="288036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1B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4608576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https://&lt;cluster-host&gt;:6443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17136" y="356616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read-only service account &amp; RBAC role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token / kubeconfig for that account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OpenSRE at the API server endpoint + token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74152" y="17373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7F7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302752" y="196596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1B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1965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02752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collector endpoint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02752" y="2880360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1B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2880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otel-collector:4317 (gRPC)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02752" y="356616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OpenTelemetry Collector in the cluster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each service's exporter to this endpoint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processed traces to Grafana / OpenSRE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Investigation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1B234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"Investigate why the Order Service latency increased."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Pod 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2828" y="3209544"/>
            <a:ext cx="118872" cy="164592"/>
          </a:xfrm>
          <a:prstGeom prst="rightArrow">
            <a:avLst/>
          </a:prstGeom>
          <a:solidFill>
            <a:srgbClr val="5B6270"/>
          </a:solidFill>
          <a:ln/>
        </p:spPr>
      </p:sp>
      <p:sp>
        <p:nvSpPr>
          <p:cNvPr id="9" name="Shape 7"/>
          <p:cNvSpPr/>
          <p:nvPr/>
        </p:nvSpPr>
        <p:spPr>
          <a:xfrm>
            <a:off x="2176272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F9E795"/>
          </a:solidFill>
          <a:ln/>
        </p:spPr>
      </p:sp>
      <p:sp>
        <p:nvSpPr>
          <p:cNvPr id="10" name="Text 8"/>
          <p:cNvSpPr/>
          <p:nvPr/>
        </p:nvSpPr>
        <p:spPr>
          <a:xfrm>
            <a:off x="2267712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67712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K8s events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80460" y="3209544"/>
            <a:ext cx="118872" cy="164592"/>
          </a:xfrm>
          <a:prstGeom prst="rightArrow">
            <a:avLst/>
          </a:prstGeom>
          <a:solidFill>
            <a:srgbClr val="5B6270"/>
          </a:solidFill>
          <a:ln/>
        </p:spPr>
      </p:sp>
      <p:sp>
        <p:nvSpPr>
          <p:cNvPr id="13" name="Shape 11"/>
          <p:cNvSpPr/>
          <p:nvPr/>
        </p:nvSpPr>
        <p:spPr>
          <a:xfrm>
            <a:off x="3803904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3895344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95344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application logs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8092" y="3209544"/>
            <a:ext cx="118872" cy="164592"/>
          </a:xfrm>
          <a:prstGeom prst="rightArrow">
            <a:avLst/>
          </a:prstGeom>
          <a:solidFill>
            <a:srgbClr val="5B6270"/>
          </a:solidFill>
          <a:ln/>
        </p:spPr>
      </p:sp>
      <p:sp>
        <p:nvSpPr>
          <p:cNvPr id="17" name="Shape 15"/>
          <p:cNvSpPr/>
          <p:nvPr/>
        </p:nvSpPr>
        <p:spPr>
          <a:xfrm>
            <a:off x="5431536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5522976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22976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Prometheus 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35724" y="3209544"/>
            <a:ext cx="118872" cy="164592"/>
          </a:xfrm>
          <a:prstGeom prst="rightArrow">
            <a:avLst/>
          </a:prstGeom>
          <a:solidFill>
            <a:srgbClr val="5B6270"/>
          </a:solidFill>
          <a:ln/>
        </p:spPr>
      </p:sp>
      <p:sp>
        <p:nvSpPr>
          <p:cNvPr id="21" name="Shape 19"/>
          <p:cNvSpPr/>
          <p:nvPr/>
        </p:nvSpPr>
        <p:spPr>
          <a:xfrm>
            <a:off x="7059168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2F3C7E"/>
          </a:solidFill>
          <a:ln/>
        </p:spPr>
      </p:sp>
      <p:sp>
        <p:nvSpPr>
          <p:cNvPr id="22" name="Text 20"/>
          <p:cNvSpPr/>
          <p:nvPr/>
        </p:nvSpPr>
        <p:spPr>
          <a:xfrm>
            <a:off x="7150608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50608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Grafana dashboards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63356" y="3209544"/>
            <a:ext cx="118872" cy="164592"/>
          </a:xfrm>
          <a:prstGeom prst="rightArrow">
            <a:avLst/>
          </a:prstGeom>
          <a:solidFill>
            <a:srgbClr val="5B6270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0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F9E795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0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78240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findings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190988" y="3209544"/>
            <a:ext cx="118872" cy="164592"/>
          </a:xfrm>
          <a:prstGeom prst="rightArrow">
            <a:avLst/>
          </a:prstGeom>
          <a:solidFill>
            <a:srgbClr val="5B627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14432" y="2423160"/>
            <a:ext cx="1499616" cy="1737360"/>
          </a:xfrm>
          <a:prstGeom prst="roundRect">
            <a:avLst>
              <a:gd name="adj" fmla="val 5488"/>
            </a:avLst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10405872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405872" y="2880360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root-cause report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replaces manual dashboard-hopping with a single natural-language query and an automated report.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0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OpenSRE across the observability stack, and building autonomous SRE agents.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548640" y="1850000"/>
            <a:ext cx="3515360" cy="1350000"/>
          </a:xfrm>
          <a:prstGeom prst="roundRect">
            <a:avLst>
              <a:gd name="adj" fmla="val 5806"/>
            </a:avLst>
          </a:prstGeom>
          <a:solidFill>
            <a:srgbClr val="2F3C7E"/>
          </a:solidFill>
          <a:ln/>
        </p:spPr>
      </p:sp>
      <p:sp>
        <p:nvSpPr>
          <p:cNvPr id="5" name="Text 5"/>
          <p:cNvSpPr/>
          <p:nvPr/>
        </p:nvSpPr>
        <p:spPr>
          <a:xfrm>
            <a:off x="777240" y="2000000"/>
            <a:ext cx="305816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Alertmanager</a:t>
            </a:r>
            <a:endParaRPr lang="en-US" sz="1500" dirty="0"/>
          </a:p>
        </p:txBody>
      </p:sp>
      <p:sp>
        <p:nvSpPr>
          <p:cNvPr id="6" name="Text 6"/>
          <p:cNvSpPr/>
          <p:nvPr/>
        </p:nvSpPr>
        <p:spPr>
          <a:xfrm>
            <a:off x="777240" y="2450000"/>
            <a:ext cx="3058160" cy="6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alert ingestion, grouping &amp; routing into investigations</a:t>
            </a:r>
            <a:endParaRPr lang="en-US" sz="950" dirty="0"/>
          </a:p>
        </p:txBody>
      </p:sp>
      <p:sp>
        <p:nvSpPr>
          <p:cNvPr id="7" name="Shape 7"/>
          <p:cNvSpPr/>
          <p:nvPr/>
        </p:nvSpPr>
        <p:spPr>
          <a:xfrm>
            <a:off x="4338320" y="1850000"/>
            <a:ext cx="3515360" cy="1350000"/>
          </a:xfrm>
          <a:prstGeom prst="roundRect">
            <a:avLst>
              <a:gd name="adj" fmla="val 5806"/>
            </a:avLst>
          </a:prstGeom>
          <a:solidFill>
            <a:srgbClr val="F96167"/>
          </a:solidFill>
          <a:ln/>
        </p:spPr>
      </p:sp>
      <p:sp>
        <p:nvSpPr>
          <p:cNvPr id="8" name="Text 8"/>
          <p:cNvSpPr/>
          <p:nvPr/>
        </p:nvSpPr>
        <p:spPr>
          <a:xfrm>
            <a:off x="4566920" y="2000000"/>
            <a:ext cx="305816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500" dirty="0"/>
          </a:p>
        </p:txBody>
      </p:sp>
      <p:sp>
        <p:nvSpPr>
          <p:cNvPr id="9" name="Text 9"/>
          <p:cNvSpPr/>
          <p:nvPr/>
        </p:nvSpPr>
        <p:spPr>
          <a:xfrm>
            <a:off x="4566920" y="2450000"/>
            <a:ext cx="3058160" cy="6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panel-aware root-cause correlation</a:t>
            </a:r>
            <a:endParaRPr lang="en-US" sz="950" dirty="0"/>
          </a:p>
        </p:txBody>
      </p:sp>
      <p:sp>
        <p:nvSpPr>
          <p:cNvPr id="10" name="Shape 10"/>
          <p:cNvSpPr/>
          <p:nvPr/>
        </p:nvSpPr>
        <p:spPr>
          <a:xfrm>
            <a:off x="8128000" y="1850000"/>
            <a:ext cx="3515360" cy="1350000"/>
          </a:xfrm>
          <a:prstGeom prst="roundRect">
            <a:avLst>
              <a:gd name="adj" fmla="val 5806"/>
            </a:avLst>
          </a:prstGeom>
          <a:solidFill>
            <a:srgbClr val="2F3C7E"/>
          </a:solidFill>
          <a:ln/>
        </p:spPr>
      </p:sp>
      <p:sp>
        <p:nvSpPr>
          <p:cNvPr id="11" name="Text 11"/>
          <p:cNvSpPr/>
          <p:nvPr/>
        </p:nvSpPr>
        <p:spPr>
          <a:xfrm>
            <a:off x="8356600" y="2000000"/>
            <a:ext cx="305816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 Logs</a:t>
            </a:r>
            <a:endParaRPr lang="en-US" sz="1500" dirty="0"/>
          </a:p>
        </p:txBody>
      </p:sp>
      <p:sp>
        <p:nvSpPr>
          <p:cNvPr id="12" name="Text 12"/>
          <p:cNvSpPr/>
          <p:nvPr/>
        </p:nvSpPr>
        <p:spPr>
          <a:xfrm>
            <a:off x="8356600" y="2450000"/>
            <a:ext cx="3058160" cy="6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log search &amp; correlation</a:t>
            </a:r>
            <a:endParaRPr lang="en-US" sz="950" dirty="0"/>
          </a:p>
        </p:txBody>
      </p:sp>
      <p:sp>
        <p:nvSpPr>
          <p:cNvPr id="13" name="Shape 13"/>
          <p:cNvSpPr/>
          <p:nvPr/>
        </p:nvSpPr>
        <p:spPr>
          <a:xfrm>
            <a:off x="548640" y="3450000"/>
            <a:ext cx="3515360" cy="1350000"/>
          </a:xfrm>
          <a:prstGeom prst="roundRect">
            <a:avLst>
              <a:gd name="adj" fmla="val 5806"/>
            </a:avLst>
          </a:prstGeom>
          <a:solidFill>
            <a:srgbClr val="F96167"/>
          </a:solidFill>
          <a:ln/>
        </p:spPr>
      </p:sp>
      <p:sp>
        <p:nvSpPr>
          <p:cNvPr id="14" name="Text 14"/>
          <p:cNvSpPr/>
          <p:nvPr/>
        </p:nvSpPr>
        <p:spPr>
          <a:xfrm>
            <a:off x="777240" y="3600000"/>
            <a:ext cx="305816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Helm</a:t>
            </a:r>
            <a:endParaRPr lang="en-US" sz="1500" dirty="0"/>
          </a:p>
        </p:txBody>
      </p:sp>
      <p:sp>
        <p:nvSpPr>
          <p:cNvPr id="15" name="Text 15"/>
          <p:cNvSpPr/>
          <p:nvPr/>
        </p:nvSpPr>
        <p:spPr>
          <a:xfrm>
            <a:off x="777240" y="4050000"/>
            <a:ext cx="3058160" cy="6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&amp; release-aware deployment context</a:t>
            </a:r>
            <a:endParaRPr lang="en-US" sz="950" dirty="0"/>
          </a:p>
        </p:txBody>
      </p:sp>
      <p:sp>
        <p:nvSpPr>
          <p:cNvPr id="16" name="Shape 16"/>
          <p:cNvSpPr/>
          <p:nvPr/>
        </p:nvSpPr>
        <p:spPr>
          <a:xfrm>
            <a:off x="4338320" y="3450000"/>
            <a:ext cx="3515360" cy="1350000"/>
          </a:xfrm>
          <a:prstGeom prst="roundRect">
            <a:avLst>
              <a:gd name="adj" fmla="val 5806"/>
            </a:avLst>
          </a:prstGeom>
          <a:solidFill>
            <a:srgbClr val="2F3C7E"/>
          </a:solidFill>
          <a:ln/>
        </p:spPr>
      </p:sp>
      <p:sp>
        <p:nvSpPr>
          <p:cNvPr id="17" name="Text 17"/>
          <p:cNvSpPr/>
          <p:nvPr/>
        </p:nvSpPr>
        <p:spPr>
          <a:xfrm>
            <a:off x="4566920" y="3600000"/>
            <a:ext cx="305816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Datadog</a:t>
            </a:r>
            <a:endParaRPr lang="en-US" sz="1500" dirty="0"/>
          </a:p>
        </p:txBody>
      </p:sp>
      <p:sp>
        <p:nvSpPr>
          <p:cNvPr id="18" name="Text 18"/>
          <p:cNvSpPr/>
          <p:nvPr/>
        </p:nvSpPr>
        <p:spPr>
          <a:xfrm>
            <a:off x="4566920" y="4050000"/>
            <a:ext cx="3058160" cy="6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traces &amp; infra signal ingestion</a:t>
            </a:r>
            <a:endParaRPr lang="en-US" sz="950" dirty="0"/>
          </a:p>
        </p:txBody>
      </p:sp>
      <p:sp>
        <p:nvSpPr>
          <p:cNvPr id="19" name="Shape 19"/>
          <p:cNvSpPr/>
          <p:nvPr/>
        </p:nvSpPr>
        <p:spPr>
          <a:xfrm>
            <a:off x="8128000" y="3450000"/>
            <a:ext cx="3515360" cy="1350000"/>
          </a:xfrm>
          <a:prstGeom prst="roundRect">
            <a:avLst>
              <a:gd name="adj" fmla="val 5806"/>
            </a:avLst>
          </a:prstGeom>
          <a:solidFill>
            <a:srgbClr val="F96167"/>
          </a:solidFill>
          <a:ln/>
        </p:spPr>
      </p:sp>
      <p:sp>
        <p:nvSpPr>
          <p:cNvPr id="20" name="Text 20"/>
          <p:cNvSpPr/>
          <p:nvPr/>
        </p:nvSpPr>
        <p:spPr>
          <a:xfrm>
            <a:off x="8356600" y="3600000"/>
            <a:ext cx="305816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</a:t>
            </a:r>
            <a:endParaRPr lang="en-US" sz="1500" dirty="0"/>
          </a:p>
        </p:txBody>
      </p:sp>
      <p:sp>
        <p:nvSpPr>
          <p:cNvPr id="21" name="Text 21"/>
          <p:cNvSpPr/>
          <p:nvPr/>
        </p:nvSpPr>
        <p:spPr>
          <a:xfrm>
            <a:off x="8356600" y="4050000"/>
            <a:ext cx="3058160" cy="6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&amp; build-event correlation</a:t>
            </a:r>
            <a:endParaRPr lang="en-US" sz="950" dirty="0"/>
          </a:p>
        </p:txBody>
      </p:sp>
      <p:sp>
        <p:nvSpPr>
          <p:cNvPr id="24" name="Text Cap Desc"/>
          <p:cNvSpPr/>
          <p:nvPr/>
        </p:nvSpPr>
        <p:spPr>
          <a:xfrm>
            <a:off x="868680" y="5700000"/>
            <a:ext cx="1045464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teams to compose their own domain-specific investigation agents on top of OpenSRE.</a:t>
            </a:r>
            <a:endParaRPr lang="en-US" sz="1150" dirty="0"/>
          </a:p>
        </p:txBody>
      </p:sp>
      <p:sp>
        <p:nvSpPr>
          <p:cNvPr id="25" name="Text Footer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0" i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</a:t>
            </a:r>
            <a:endParaRPr lang="en-US" sz="1000" dirty="0"/>
          </a:p>
        </p:txBody>
      </p:sp>
      <p:sp>
        <p:nvSpPr>
          <p:cNvPr id="26" name="Text PageNum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0" i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744</Words>
  <Application>Microsoft Office PowerPoint</Application>
  <PresentationFormat>Widescreen</PresentationFormat>
  <Paragraphs>152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Salvi Priya</cp:lastModifiedBy>
  <cp:revision>5</cp:revision>
  <dcterms:created xsi:type="dcterms:W3CDTF">2026-07-30T07:33:49Z</dcterms:created>
  <dcterms:modified xsi:type="dcterms:W3CDTF">2026-07-30T08:35:11Z</dcterms:modified>
</cp:coreProperties>
</file>