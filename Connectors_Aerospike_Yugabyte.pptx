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6" r:id="rId6"/>
    <p:sldId id="267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629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57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simple connectors for Aerospike and YugabyteDB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71432" y="477316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71432" y="539496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Connector — and Why Build One?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connector is a small piece of code that sits between your application and a database. It translates simple application requests into the exact calls that database expects.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20116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116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0" y="20116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201168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(Aerospike / Yugabyte)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2482596"/>
            <a:ext cx="868680" cy="201168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2482596"/>
            <a:ext cx="868680" cy="201168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Custom Connectors advantages: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9918" y="4069080"/>
            <a:ext cx="2404872" cy="19202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86172" y="4122582"/>
            <a:ext cx="464098" cy="44941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12050" y="4139834"/>
            <a:ext cx="464098" cy="44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090028" y="4767526"/>
            <a:ext cx="2033594" cy="490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rules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0028" y="5289900"/>
            <a:ext cx="2033594" cy="65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timeouts and logging exactly how required.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27126" y="4069080"/>
            <a:ext cx="2404872" cy="19202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19258" y="4139834"/>
            <a:ext cx="464098" cy="44941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3793380" y="4122582"/>
            <a:ext cx="464098" cy="44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3897236" y="4767526"/>
            <a:ext cx="2033594" cy="490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interface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97236" y="5289900"/>
            <a:ext cx="2033594" cy="65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simple functions like get(), save(), query() to every app.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4334" y="4069080"/>
            <a:ext cx="2404872" cy="1920240"/>
          </a:xfrm>
          <a:prstGeom prst="roundRect">
            <a:avLst>
              <a:gd name="adj" fmla="val 4255"/>
            </a:avLst>
          </a:prstGeom>
          <a:solidFill>
            <a:srgbClr val="F4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6466" y="4139834"/>
            <a:ext cx="464098" cy="44941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600588" y="4122582"/>
            <a:ext cx="464098" cy="44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6704444" y="4767526"/>
            <a:ext cx="2033594" cy="490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change later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04444" y="5289900"/>
            <a:ext cx="2033594" cy="65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or upgrade the database without rewriting application code.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Aerospike Connector — Data Model &amp; Building Blocks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4165" y="1001093"/>
            <a:ext cx="4815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492546"/>
            <a:ext cx="4815265" cy="636797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25408" y="1335024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Namespace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9238" y="1335024"/>
            <a:ext cx="29665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database — a top-level container (e.g. "cache").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400" y="2184560"/>
            <a:ext cx="4815265" cy="729058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8" name="Text 6"/>
          <p:cNvSpPr/>
          <p:nvPr/>
        </p:nvSpPr>
        <p:spPr>
          <a:xfrm>
            <a:off x="521896" y="2158672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9238" y="2150048"/>
            <a:ext cx="29665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table — groups similar records together.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3400" y="3111725"/>
            <a:ext cx="4815265" cy="625541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896" y="2913319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Record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9238" y="2947825"/>
            <a:ext cx="29665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item, identified by a unique key; holds one or more bins.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74996"/>
            <a:ext cx="4815265" cy="651423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7774" y="3754223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9238" y="3745595"/>
            <a:ext cx="29665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field inside a record — like a column value.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74257" y="1023259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 of the Connector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9561" y="1486454"/>
            <a:ext cx="5669280" cy="64289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884304" y="1508760"/>
            <a:ext cx="5159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808" y="1335024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17538" y="1335024"/>
            <a:ext cx="283756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that manages the connection to the whole cluster.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46540" y="2189822"/>
            <a:ext cx="5669280" cy="698309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24" name="Text 22"/>
          <p:cNvSpPr/>
          <p:nvPr/>
        </p:nvSpPr>
        <p:spPr>
          <a:xfrm>
            <a:off x="5884304" y="2366922"/>
            <a:ext cx="5159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808" y="2193186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17538" y="2193186"/>
            <a:ext cx="283756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for timeouts, retries, and consistency per operation.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46540" y="3083001"/>
            <a:ext cx="5669280" cy="609919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884304" y="3354474"/>
            <a:ext cx="5159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75808" y="2939200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17538" y="2896068"/>
            <a:ext cx="283756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set + user key — points to one exact record.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41076" y="3813065"/>
            <a:ext cx="5669280" cy="710586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34" name="Text 32"/>
          <p:cNvSpPr/>
          <p:nvPr/>
        </p:nvSpPr>
        <p:spPr>
          <a:xfrm>
            <a:off x="5884304" y="4342026"/>
            <a:ext cx="5159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75808" y="3736962"/>
            <a:ext cx="146177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17538" y="3659332"/>
            <a:ext cx="283756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calls your connector exposes: put, get, delete, query.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23350" y="6277227"/>
            <a:ext cx="5515277" cy="23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89014" y="6277227"/>
            <a:ext cx="393949" cy="23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BB9A18F2-D492-030A-322D-A099BAED212A}"/>
              </a:ext>
            </a:extLst>
          </p:cNvPr>
          <p:cNvSpPr/>
          <p:nvPr/>
        </p:nvSpPr>
        <p:spPr>
          <a:xfrm>
            <a:off x="618480" y="5138245"/>
            <a:ext cx="1722342" cy="1371599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3FC4EDE5-DFA7-5FA6-537C-0F264F17AA71}"/>
              </a:ext>
            </a:extLst>
          </p:cNvPr>
          <p:cNvSpPr/>
          <p:nvPr/>
        </p:nvSpPr>
        <p:spPr>
          <a:xfrm>
            <a:off x="1244613" y="5196767"/>
            <a:ext cx="441222" cy="438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DF9F1989-F719-BB89-BDB3-34B06BC3A970}"/>
              </a:ext>
            </a:extLst>
          </p:cNvPr>
          <p:cNvSpPr/>
          <p:nvPr/>
        </p:nvSpPr>
        <p:spPr>
          <a:xfrm>
            <a:off x="1244613" y="5196767"/>
            <a:ext cx="441222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451CEB26-31B8-492D-BF01-4EAC90BB2771}"/>
              </a:ext>
            </a:extLst>
          </p:cNvPr>
          <p:cNvSpPr/>
          <p:nvPr/>
        </p:nvSpPr>
        <p:spPr>
          <a:xfrm>
            <a:off x="695494" y="5769181"/>
            <a:ext cx="1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5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E83F3288-525D-D7E4-33FE-1CFC96C59697}"/>
              </a:ext>
            </a:extLst>
          </p:cNvPr>
          <p:cNvSpPr/>
          <p:nvPr/>
        </p:nvSpPr>
        <p:spPr>
          <a:xfrm>
            <a:off x="718600" y="6104896"/>
            <a:ext cx="1517489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client and point it at the cluster's seed host.</a:t>
            </a:r>
            <a:endParaRPr lang="en-US" sz="98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AA41EFD1-EF7B-0C36-17D1-5B2C2FE8BDEF}"/>
              </a:ext>
            </a:extLst>
          </p:cNvPr>
          <p:cNvSpPr/>
          <p:nvPr/>
        </p:nvSpPr>
        <p:spPr>
          <a:xfrm>
            <a:off x="2496734" y="5677871"/>
            <a:ext cx="204853" cy="172429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789E0366-8B54-3772-27F0-756AFC43411B}"/>
              </a:ext>
            </a:extLst>
          </p:cNvPr>
          <p:cNvSpPr/>
          <p:nvPr/>
        </p:nvSpPr>
        <p:spPr>
          <a:xfrm>
            <a:off x="2891678" y="5138245"/>
            <a:ext cx="1722342" cy="1371599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78889A3F-DEDA-BF30-5042-8812888C1930}"/>
              </a:ext>
            </a:extLst>
          </p:cNvPr>
          <p:cNvSpPr/>
          <p:nvPr/>
        </p:nvSpPr>
        <p:spPr>
          <a:xfrm>
            <a:off x="3517812" y="5196767"/>
            <a:ext cx="441222" cy="438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AE2DF8F9-E6BD-95E8-2AEE-DD1AF107987E}"/>
              </a:ext>
            </a:extLst>
          </p:cNvPr>
          <p:cNvSpPr/>
          <p:nvPr/>
        </p:nvSpPr>
        <p:spPr>
          <a:xfrm>
            <a:off x="3517812" y="5196767"/>
            <a:ext cx="441222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73C93A58-ABE2-BBE5-C942-27BC407AF62D}"/>
              </a:ext>
            </a:extLst>
          </p:cNvPr>
          <p:cNvSpPr/>
          <p:nvPr/>
        </p:nvSpPr>
        <p:spPr>
          <a:xfrm>
            <a:off x="2968692" y="5769181"/>
            <a:ext cx="1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Key</a:t>
            </a:r>
            <a:endParaRPr lang="en-US" sz="135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55FF9529-D9D5-CCCA-C736-57E3A49D7E72}"/>
              </a:ext>
            </a:extLst>
          </p:cNvPr>
          <p:cNvSpPr/>
          <p:nvPr/>
        </p:nvSpPr>
        <p:spPr>
          <a:xfrm>
            <a:off x="2991798" y="6104896"/>
            <a:ext cx="1517489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namespace, set, and record key.</a:t>
            </a:r>
            <a:endParaRPr lang="en-US" sz="980" dirty="0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8B1B64BA-CF13-7EC8-A977-099DE0F5D2F9}"/>
              </a:ext>
            </a:extLst>
          </p:cNvPr>
          <p:cNvSpPr/>
          <p:nvPr/>
        </p:nvSpPr>
        <p:spPr>
          <a:xfrm>
            <a:off x="4769933" y="5677871"/>
            <a:ext cx="204853" cy="172429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CFBE369C-3236-301C-23D4-FB44F33EBB21}"/>
              </a:ext>
            </a:extLst>
          </p:cNvPr>
          <p:cNvSpPr/>
          <p:nvPr/>
        </p:nvSpPr>
        <p:spPr>
          <a:xfrm>
            <a:off x="5164877" y="5138245"/>
            <a:ext cx="1722342" cy="1371599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00493C73-3D79-5DB4-D413-9E1DB8891849}"/>
              </a:ext>
            </a:extLst>
          </p:cNvPr>
          <p:cNvSpPr/>
          <p:nvPr/>
        </p:nvSpPr>
        <p:spPr>
          <a:xfrm>
            <a:off x="5791010" y="5196767"/>
            <a:ext cx="441222" cy="438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25C97D8-8E39-402C-A5B0-BCD4A0E65B4F}"/>
              </a:ext>
            </a:extLst>
          </p:cNvPr>
          <p:cNvSpPr/>
          <p:nvPr/>
        </p:nvSpPr>
        <p:spPr>
          <a:xfrm>
            <a:off x="5791010" y="5196767"/>
            <a:ext cx="441222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0394A54C-0EFD-FCB5-9286-3821A0DF2E79}"/>
              </a:ext>
            </a:extLst>
          </p:cNvPr>
          <p:cNvSpPr/>
          <p:nvPr/>
        </p:nvSpPr>
        <p:spPr>
          <a:xfrm>
            <a:off x="5241891" y="5769181"/>
            <a:ext cx="1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Operation</a:t>
            </a:r>
            <a:endParaRPr lang="en-US" sz="1350" dirty="0"/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55634CEA-A91F-1D85-A4FB-CC348DD78C69}"/>
              </a:ext>
            </a:extLst>
          </p:cNvPr>
          <p:cNvSpPr/>
          <p:nvPr/>
        </p:nvSpPr>
        <p:spPr>
          <a:xfrm>
            <a:off x="5264997" y="6104896"/>
            <a:ext cx="1517489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put(), get(), or delete() with a policy.</a:t>
            </a:r>
            <a:endParaRPr lang="en-US" sz="980" dirty="0"/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8E43C461-9124-D4B5-FFB8-54AC7ACF59A7}"/>
              </a:ext>
            </a:extLst>
          </p:cNvPr>
          <p:cNvSpPr/>
          <p:nvPr/>
        </p:nvSpPr>
        <p:spPr>
          <a:xfrm>
            <a:off x="7043131" y="5677871"/>
            <a:ext cx="204853" cy="172429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9" name="Shape 19">
            <a:extLst>
              <a:ext uri="{FF2B5EF4-FFF2-40B4-BE49-F238E27FC236}">
                <a16:creationId xmlns:a16="http://schemas.microsoft.com/office/drawing/2014/main" id="{2E6DDD5B-F64D-BF41-FF1D-532103E33833}"/>
              </a:ext>
            </a:extLst>
          </p:cNvPr>
          <p:cNvSpPr/>
          <p:nvPr/>
        </p:nvSpPr>
        <p:spPr>
          <a:xfrm>
            <a:off x="7438075" y="5138245"/>
            <a:ext cx="1722342" cy="1371599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81" name="Shape 20">
            <a:extLst>
              <a:ext uri="{FF2B5EF4-FFF2-40B4-BE49-F238E27FC236}">
                <a16:creationId xmlns:a16="http://schemas.microsoft.com/office/drawing/2014/main" id="{9BFB2315-B71E-19EF-26A9-44894AA61D76}"/>
              </a:ext>
            </a:extLst>
          </p:cNvPr>
          <p:cNvSpPr/>
          <p:nvPr/>
        </p:nvSpPr>
        <p:spPr>
          <a:xfrm>
            <a:off x="8064208" y="5196767"/>
            <a:ext cx="441222" cy="438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3" name="Text 21">
            <a:extLst>
              <a:ext uri="{FF2B5EF4-FFF2-40B4-BE49-F238E27FC236}">
                <a16:creationId xmlns:a16="http://schemas.microsoft.com/office/drawing/2014/main" id="{22F62764-E9A7-C59F-0255-169AB1CBBB62}"/>
              </a:ext>
            </a:extLst>
          </p:cNvPr>
          <p:cNvSpPr/>
          <p:nvPr/>
        </p:nvSpPr>
        <p:spPr>
          <a:xfrm>
            <a:off x="8064208" y="5196767"/>
            <a:ext cx="441222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85C00D5A-C21D-B21F-D95C-AC1A6947B7E5}"/>
              </a:ext>
            </a:extLst>
          </p:cNvPr>
          <p:cNvSpPr/>
          <p:nvPr/>
        </p:nvSpPr>
        <p:spPr>
          <a:xfrm>
            <a:off x="7515089" y="5769181"/>
            <a:ext cx="1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Result</a:t>
            </a:r>
            <a:endParaRPr lang="en-US" sz="135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6DC221B4-A3EE-6D84-E7C3-28BE27B3893F}"/>
              </a:ext>
            </a:extLst>
          </p:cNvPr>
          <p:cNvSpPr/>
          <p:nvPr/>
        </p:nvSpPr>
        <p:spPr>
          <a:xfrm>
            <a:off x="7538195" y="6104896"/>
            <a:ext cx="1517489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errors; read bins from the response.</a:t>
            </a:r>
            <a:endParaRPr lang="en-US" sz="980" dirty="0"/>
          </a:p>
        </p:txBody>
      </p:sp>
      <p:sp>
        <p:nvSpPr>
          <p:cNvPr id="89" name="Shape 24">
            <a:extLst>
              <a:ext uri="{FF2B5EF4-FFF2-40B4-BE49-F238E27FC236}">
                <a16:creationId xmlns:a16="http://schemas.microsoft.com/office/drawing/2014/main" id="{03F9EEC0-5097-EED0-E40E-F69E66D617BA}"/>
              </a:ext>
            </a:extLst>
          </p:cNvPr>
          <p:cNvSpPr/>
          <p:nvPr/>
        </p:nvSpPr>
        <p:spPr>
          <a:xfrm>
            <a:off x="9316330" y="5677871"/>
            <a:ext cx="204853" cy="172429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D5197014-76FC-EEFA-00FF-AFB739F01017}"/>
              </a:ext>
            </a:extLst>
          </p:cNvPr>
          <p:cNvSpPr/>
          <p:nvPr/>
        </p:nvSpPr>
        <p:spPr>
          <a:xfrm>
            <a:off x="9711274" y="5138245"/>
            <a:ext cx="1722342" cy="1371599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93" name="Shape 26">
            <a:extLst>
              <a:ext uri="{FF2B5EF4-FFF2-40B4-BE49-F238E27FC236}">
                <a16:creationId xmlns:a16="http://schemas.microsoft.com/office/drawing/2014/main" id="{34F8B702-14D6-47A2-B749-7D46325C1E16}"/>
              </a:ext>
            </a:extLst>
          </p:cNvPr>
          <p:cNvSpPr/>
          <p:nvPr/>
        </p:nvSpPr>
        <p:spPr>
          <a:xfrm>
            <a:off x="10337407" y="5196767"/>
            <a:ext cx="441222" cy="438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5" name="Text 27">
            <a:extLst>
              <a:ext uri="{FF2B5EF4-FFF2-40B4-BE49-F238E27FC236}">
                <a16:creationId xmlns:a16="http://schemas.microsoft.com/office/drawing/2014/main" id="{472AE23C-5EC6-8CF2-59F4-45DDB000EDF9}"/>
              </a:ext>
            </a:extLst>
          </p:cNvPr>
          <p:cNvSpPr/>
          <p:nvPr/>
        </p:nvSpPr>
        <p:spPr>
          <a:xfrm>
            <a:off x="10337407" y="5196767"/>
            <a:ext cx="441222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7" name="Text 28">
            <a:extLst>
              <a:ext uri="{FF2B5EF4-FFF2-40B4-BE49-F238E27FC236}">
                <a16:creationId xmlns:a16="http://schemas.microsoft.com/office/drawing/2014/main" id="{D6C386C7-2573-159D-4561-D51455C1BE81}"/>
              </a:ext>
            </a:extLst>
          </p:cNvPr>
          <p:cNvSpPr/>
          <p:nvPr/>
        </p:nvSpPr>
        <p:spPr>
          <a:xfrm>
            <a:off x="9788288" y="5769181"/>
            <a:ext cx="1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50" dirty="0"/>
          </a:p>
        </p:txBody>
      </p:sp>
      <p:sp>
        <p:nvSpPr>
          <p:cNvPr id="99" name="Text 29">
            <a:extLst>
              <a:ext uri="{FF2B5EF4-FFF2-40B4-BE49-F238E27FC236}">
                <a16:creationId xmlns:a16="http://schemas.microsoft.com/office/drawing/2014/main" id="{048CE45A-8550-A297-B949-1FC87CA0CADE}"/>
              </a:ext>
            </a:extLst>
          </p:cNvPr>
          <p:cNvSpPr/>
          <p:nvPr/>
        </p:nvSpPr>
        <p:spPr>
          <a:xfrm>
            <a:off x="9811394" y="6104896"/>
            <a:ext cx="1517489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client when the app shuts down.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YugabyteDB Connector — Concepts &amp; Building Blocks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120640" cy="18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 Connector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81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63040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Postgres-compatible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463040"/>
            <a:ext cx="288036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PostgreSQL drivers (JDBC, psycopg, etc.) work out of the box.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48640" y="2157300"/>
            <a:ext cx="5120640" cy="448145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57300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by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06040" y="2157300"/>
            <a:ext cx="288036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automatically split and replicated across nodes.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48640" y="2825671"/>
            <a:ext cx="5120640" cy="4481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25671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825671"/>
            <a:ext cx="288036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tables, joins, and transactions — no new query language.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48640" y="3485420"/>
            <a:ext cx="5120640" cy="448145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485420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&amp; sharding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3485420"/>
            <a:ext cx="288036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auto-split into tablets spread across the cluster.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989320" y="1051560"/>
            <a:ext cx="5669280" cy="18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 of the Connector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1463040"/>
            <a:ext cx="5669280" cy="4481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6516" y="1490617"/>
            <a:ext cx="483942" cy="377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167" y="1542706"/>
            <a:ext cx="548640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1463040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32520" y="1463040"/>
            <a:ext cx="27432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port, database name, and credentials.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989320" y="2148674"/>
            <a:ext cx="5669280" cy="448145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6516" y="2176251"/>
            <a:ext cx="483942" cy="377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146322" y="2236147"/>
            <a:ext cx="548640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2148674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Driver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32520" y="2148674"/>
            <a:ext cx="27432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every node in the cluster; spreads load automatically.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989320" y="2817048"/>
            <a:ext cx="5669280" cy="4481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176516" y="2844625"/>
            <a:ext cx="483942" cy="377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137696" y="2904521"/>
            <a:ext cx="548640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03720" y="2817048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2817048"/>
            <a:ext cx="27432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open connections instead of opening one per request.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989320" y="3502678"/>
            <a:ext cx="5669280" cy="448145"/>
          </a:xfrm>
          <a:prstGeom prst="roundRect">
            <a:avLst>
              <a:gd name="adj" fmla="val 8163"/>
            </a:avLst>
          </a:prstGeom>
          <a:solidFill>
            <a:srgbClr val="EAF0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176516" y="3530255"/>
            <a:ext cx="483942" cy="377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146322" y="3590154"/>
            <a:ext cx="548640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03720" y="3502678"/>
            <a:ext cx="18288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32520" y="3502678"/>
            <a:ext cx="2743200" cy="4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SELECT / INSERT / UPDATE, run through the pool.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1408034" y="4634048"/>
            <a:ext cx="9976246" cy="550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29290" y="5627608"/>
            <a:ext cx="6020149" cy="242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06434" y="6370755"/>
            <a:ext cx="430011" cy="242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BD26CDE1-9D38-C760-3580-0AB1E4F0FD9A}"/>
              </a:ext>
            </a:extLst>
          </p:cNvPr>
          <p:cNvSpPr/>
          <p:nvPr/>
        </p:nvSpPr>
        <p:spPr>
          <a:xfrm>
            <a:off x="640080" y="4352728"/>
            <a:ext cx="1880006" cy="14173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986F3B62-D51C-4CE9-E79A-3AB5F16279D7}"/>
              </a:ext>
            </a:extLst>
          </p:cNvPr>
          <p:cNvSpPr/>
          <p:nvPr/>
        </p:nvSpPr>
        <p:spPr>
          <a:xfrm>
            <a:off x="1295067" y="4411250"/>
            <a:ext cx="481612" cy="4535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B9A241ED-830E-05CA-2C4F-3E7593425E76}"/>
              </a:ext>
            </a:extLst>
          </p:cNvPr>
          <p:cNvSpPr/>
          <p:nvPr/>
        </p:nvSpPr>
        <p:spPr>
          <a:xfrm>
            <a:off x="1295067" y="4411250"/>
            <a:ext cx="4816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8480C4F4-AE3E-D4C2-815D-5B113643EAAA}"/>
              </a:ext>
            </a:extLst>
          </p:cNvPr>
          <p:cNvSpPr/>
          <p:nvPr/>
        </p:nvSpPr>
        <p:spPr>
          <a:xfrm>
            <a:off x="720644" y="4983664"/>
            <a:ext cx="17080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35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065B49BE-2466-4805-884E-58EA430B2A70}"/>
              </a:ext>
            </a:extLst>
          </p:cNvPr>
          <p:cNvSpPr/>
          <p:nvPr/>
        </p:nvSpPr>
        <p:spPr>
          <a:xfrm>
            <a:off x="744814" y="5319378"/>
            <a:ext cx="165640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connection string and smart driver.</a:t>
            </a:r>
            <a:endParaRPr lang="en-US" sz="980" dirty="0"/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3986ED66-9FD1-7A81-AA8A-7524ABDF48FC}"/>
              </a:ext>
            </a:extLst>
          </p:cNvPr>
          <p:cNvSpPr/>
          <p:nvPr/>
        </p:nvSpPr>
        <p:spPr>
          <a:xfrm>
            <a:off x="2552512" y="4892354"/>
            <a:ext cx="223606" cy="178177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057CC8B4-31B8-246E-00F5-BA85141E4708}"/>
              </a:ext>
            </a:extLst>
          </p:cNvPr>
          <p:cNvSpPr/>
          <p:nvPr/>
        </p:nvSpPr>
        <p:spPr>
          <a:xfrm>
            <a:off x="2913278" y="4352728"/>
            <a:ext cx="1880006" cy="14173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DE6CBEE6-5178-286D-B191-2C1A510F3EC8}"/>
              </a:ext>
            </a:extLst>
          </p:cNvPr>
          <p:cNvSpPr/>
          <p:nvPr/>
        </p:nvSpPr>
        <p:spPr>
          <a:xfrm>
            <a:off x="3568266" y="4411250"/>
            <a:ext cx="481612" cy="4535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A288136E-4529-0F55-4E0E-F87A6BE7C34A}"/>
              </a:ext>
            </a:extLst>
          </p:cNvPr>
          <p:cNvSpPr/>
          <p:nvPr/>
        </p:nvSpPr>
        <p:spPr>
          <a:xfrm>
            <a:off x="3568266" y="4411250"/>
            <a:ext cx="4816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68429D4E-6109-A221-A678-581BB42B1D0C}"/>
              </a:ext>
            </a:extLst>
          </p:cNvPr>
          <p:cNvSpPr/>
          <p:nvPr/>
        </p:nvSpPr>
        <p:spPr>
          <a:xfrm>
            <a:off x="2993842" y="4983664"/>
            <a:ext cx="17080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Connection</a:t>
            </a:r>
            <a:endParaRPr lang="en-US" sz="135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F9ADB9EA-7B01-6E83-39A0-8E09200896AA}"/>
              </a:ext>
            </a:extLst>
          </p:cNvPr>
          <p:cNvSpPr/>
          <p:nvPr/>
        </p:nvSpPr>
        <p:spPr>
          <a:xfrm>
            <a:off x="3018012" y="5319378"/>
            <a:ext cx="165640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 ready connection from the pool.</a:t>
            </a:r>
            <a:endParaRPr lang="en-US" sz="980" dirty="0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93290816-C186-548D-502F-85B5D6596A05}"/>
              </a:ext>
            </a:extLst>
          </p:cNvPr>
          <p:cNvSpPr/>
          <p:nvPr/>
        </p:nvSpPr>
        <p:spPr>
          <a:xfrm>
            <a:off x="4825711" y="4892354"/>
            <a:ext cx="223606" cy="178177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6C2A4F81-B3E7-C5D3-95AA-D7F0586241D7}"/>
              </a:ext>
            </a:extLst>
          </p:cNvPr>
          <p:cNvSpPr/>
          <p:nvPr/>
        </p:nvSpPr>
        <p:spPr>
          <a:xfrm>
            <a:off x="5186477" y="4352728"/>
            <a:ext cx="1880006" cy="14173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68" name="Shape 14">
            <a:extLst>
              <a:ext uri="{FF2B5EF4-FFF2-40B4-BE49-F238E27FC236}">
                <a16:creationId xmlns:a16="http://schemas.microsoft.com/office/drawing/2014/main" id="{BCF6EADC-B203-0252-9C92-F2F72EEB1730}"/>
              </a:ext>
            </a:extLst>
          </p:cNvPr>
          <p:cNvSpPr/>
          <p:nvPr/>
        </p:nvSpPr>
        <p:spPr>
          <a:xfrm>
            <a:off x="5841464" y="4411250"/>
            <a:ext cx="481612" cy="4535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E3451D95-50A5-5778-1281-01D8DF1209D3}"/>
              </a:ext>
            </a:extLst>
          </p:cNvPr>
          <p:cNvSpPr/>
          <p:nvPr/>
        </p:nvSpPr>
        <p:spPr>
          <a:xfrm>
            <a:off x="5841464" y="4411250"/>
            <a:ext cx="4816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83906379-E4BE-E533-7797-C2387FDDE492}"/>
              </a:ext>
            </a:extLst>
          </p:cNvPr>
          <p:cNvSpPr/>
          <p:nvPr/>
        </p:nvSpPr>
        <p:spPr>
          <a:xfrm>
            <a:off x="5267041" y="4983664"/>
            <a:ext cx="17080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SQL</a:t>
            </a:r>
            <a:endParaRPr lang="en-US" sz="1350" dirty="0"/>
          </a:p>
        </p:txBody>
      </p:sp>
      <p:sp>
        <p:nvSpPr>
          <p:cNvPr id="74" name="Text 17">
            <a:extLst>
              <a:ext uri="{FF2B5EF4-FFF2-40B4-BE49-F238E27FC236}">
                <a16:creationId xmlns:a16="http://schemas.microsoft.com/office/drawing/2014/main" id="{B7A69A7E-41E1-966D-72EF-DA3DBB36FEC8}"/>
              </a:ext>
            </a:extLst>
          </p:cNvPr>
          <p:cNvSpPr/>
          <p:nvPr/>
        </p:nvSpPr>
        <p:spPr>
          <a:xfrm>
            <a:off x="5291211" y="5319378"/>
            <a:ext cx="165640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query with parameters.</a:t>
            </a:r>
            <a:endParaRPr lang="en-US" sz="980" dirty="0"/>
          </a:p>
        </p:txBody>
      </p:sp>
      <p:sp>
        <p:nvSpPr>
          <p:cNvPr id="76" name="Shape 18">
            <a:extLst>
              <a:ext uri="{FF2B5EF4-FFF2-40B4-BE49-F238E27FC236}">
                <a16:creationId xmlns:a16="http://schemas.microsoft.com/office/drawing/2014/main" id="{00F1C379-782A-74F2-DAAC-A7CA8DCFB530}"/>
              </a:ext>
            </a:extLst>
          </p:cNvPr>
          <p:cNvSpPr/>
          <p:nvPr/>
        </p:nvSpPr>
        <p:spPr>
          <a:xfrm>
            <a:off x="7098909" y="4892354"/>
            <a:ext cx="223606" cy="178177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AB74C7EF-103F-3022-11FE-4029A11B4008}"/>
              </a:ext>
            </a:extLst>
          </p:cNvPr>
          <p:cNvSpPr/>
          <p:nvPr/>
        </p:nvSpPr>
        <p:spPr>
          <a:xfrm>
            <a:off x="7459675" y="4352728"/>
            <a:ext cx="1880006" cy="14173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BBF3ACFB-9B2F-5FDE-CEE6-AAEA9A939131}"/>
              </a:ext>
            </a:extLst>
          </p:cNvPr>
          <p:cNvSpPr/>
          <p:nvPr/>
        </p:nvSpPr>
        <p:spPr>
          <a:xfrm>
            <a:off x="8114662" y="4411250"/>
            <a:ext cx="481612" cy="4535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21">
            <a:extLst>
              <a:ext uri="{FF2B5EF4-FFF2-40B4-BE49-F238E27FC236}">
                <a16:creationId xmlns:a16="http://schemas.microsoft.com/office/drawing/2014/main" id="{66072E80-DD5C-037A-CB9E-AC4B9ED45D5C}"/>
              </a:ext>
            </a:extLst>
          </p:cNvPr>
          <p:cNvSpPr/>
          <p:nvPr/>
        </p:nvSpPr>
        <p:spPr>
          <a:xfrm>
            <a:off x="8114662" y="4411250"/>
            <a:ext cx="4816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4" name="Text 22">
            <a:extLst>
              <a:ext uri="{FF2B5EF4-FFF2-40B4-BE49-F238E27FC236}">
                <a16:creationId xmlns:a16="http://schemas.microsoft.com/office/drawing/2014/main" id="{9047E4FD-0629-4482-AC91-41E2E1E5EEF8}"/>
              </a:ext>
            </a:extLst>
          </p:cNvPr>
          <p:cNvSpPr/>
          <p:nvPr/>
        </p:nvSpPr>
        <p:spPr>
          <a:xfrm>
            <a:off x="7540239" y="4983664"/>
            <a:ext cx="17080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Results</a:t>
            </a:r>
            <a:endParaRPr lang="en-US" sz="1350" dirty="0"/>
          </a:p>
        </p:txBody>
      </p:sp>
      <p:sp>
        <p:nvSpPr>
          <p:cNvPr id="86" name="Text 23">
            <a:extLst>
              <a:ext uri="{FF2B5EF4-FFF2-40B4-BE49-F238E27FC236}">
                <a16:creationId xmlns:a16="http://schemas.microsoft.com/office/drawing/2014/main" id="{724DCF38-D5D2-E8A7-3649-C2AECBA646C4}"/>
              </a:ext>
            </a:extLst>
          </p:cNvPr>
          <p:cNvSpPr/>
          <p:nvPr/>
        </p:nvSpPr>
        <p:spPr>
          <a:xfrm>
            <a:off x="7564409" y="5319378"/>
            <a:ext cx="165640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rows back into application objects.</a:t>
            </a:r>
            <a:endParaRPr lang="en-US" sz="980" dirty="0"/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BBB56A14-10DE-2E3D-83D3-6FD52E390F72}"/>
              </a:ext>
            </a:extLst>
          </p:cNvPr>
          <p:cNvSpPr/>
          <p:nvPr/>
        </p:nvSpPr>
        <p:spPr>
          <a:xfrm>
            <a:off x="9372108" y="4892354"/>
            <a:ext cx="223606" cy="178177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90" name="Shape 25">
            <a:extLst>
              <a:ext uri="{FF2B5EF4-FFF2-40B4-BE49-F238E27FC236}">
                <a16:creationId xmlns:a16="http://schemas.microsoft.com/office/drawing/2014/main" id="{C27F1E72-D388-A4B3-BF36-1699665CB82A}"/>
              </a:ext>
            </a:extLst>
          </p:cNvPr>
          <p:cNvSpPr/>
          <p:nvPr/>
        </p:nvSpPr>
        <p:spPr>
          <a:xfrm>
            <a:off x="9732874" y="4352728"/>
            <a:ext cx="1880006" cy="14173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92" name="Shape 26">
            <a:extLst>
              <a:ext uri="{FF2B5EF4-FFF2-40B4-BE49-F238E27FC236}">
                <a16:creationId xmlns:a16="http://schemas.microsoft.com/office/drawing/2014/main" id="{2A1D9CDA-2D36-0B15-F31C-7E983DD9B249}"/>
              </a:ext>
            </a:extLst>
          </p:cNvPr>
          <p:cNvSpPr/>
          <p:nvPr/>
        </p:nvSpPr>
        <p:spPr>
          <a:xfrm>
            <a:off x="10387861" y="4411250"/>
            <a:ext cx="481612" cy="4535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Text 27">
            <a:extLst>
              <a:ext uri="{FF2B5EF4-FFF2-40B4-BE49-F238E27FC236}">
                <a16:creationId xmlns:a16="http://schemas.microsoft.com/office/drawing/2014/main" id="{BB14A26A-E1CD-7547-EC33-ACE9B02E61F6}"/>
              </a:ext>
            </a:extLst>
          </p:cNvPr>
          <p:cNvSpPr/>
          <p:nvPr/>
        </p:nvSpPr>
        <p:spPr>
          <a:xfrm>
            <a:off x="10387861" y="4411250"/>
            <a:ext cx="4816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8FF95ED4-D897-24D2-90DE-26A1223513F1}"/>
              </a:ext>
            </a:extLst>
          </p:cNvPr>
          <p:cNvSpPr/>
          <p:nvPr/>
        </p:nvSpPr>
        <p:spPr>
          <a:xfrm>
            <a:off x="9813438" y="4983664"/>
            <a:ext cx="17080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Pool</a:t>
            </a:r>
            <a:endParaRPr lang="en-US" sz="1350" dirty="0"/>
          </a:p>
        </p:txBody>
      </p:sp>
      <p:sp>
        <p:nvSpPr>
          <p:cNvPr id="98" name="Text 29">
            <a:extLst>
              <a:ext uri="{FF2B5EF4-FFF2-40B4-BE49-F238E27FC236}">
                <a16:creationId xmlns:a16="http://schemas.microsoft.com/office/drawing/2014/main" id="{E7CE0FF2-37E0-9D2D-1D8C-83146D1B5526}"/>
              </a:ext>
            </a:extLst>
          </p:cNvPr>
          <p:cNvSpPr/>
          <p:nvPr/>
        </p:nvSpPr>
        <p:spPr>
          <a:xfrm>
            <a:off x="9837608" y="5319378"/>
            <a:ext cx="165640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connection back for reuse.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911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Aerospike Connector — Code Walkthrough</a:t>
            </a:r>
            <a:endParaRPr lang="en-US" sz="2500" dirty="0"/>
          </a:p>
        </p:txBody>
      </p:sp>
      <p:sp>
        <p:nvSpPr>
          <p:cNvPr id="3" name="Text"/>
          <p:cNvSpPr/>
          <p:nvPr/>
        </p:nvSpPr>
        <p:spPr>
          <a:xfrm>
            <a:off x="583144" y="1351925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functions: a client factory, and one operation using the (namespace, set, key) tuple.0</a:t>
            </a:r>
            <a:endParaRPr lang="en-US" sz="1300" dirty="0"/>
          </a:p>
        </p:txBody>
      </p:sp>
      <p:sp>
        <p:nvSpPr>
          <p:cNvPr id="4" name="CodeBG"/>
          <p:cNvSpPr/>
          <p:nvPr/>
        </p:nvSpPr>
        <p:spPr>
          <a:xfrm>
            <a:off x="640770" y="2048256"/>
            <a:ext cx="6142276" cy="4568204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</p:sp>
      <p:sp>
        <p:nvSpPr>
          <p:cNvPr id="5" name="CodeText"/>
          <p:cNvSpPr/>
          <p:nvPr/>
        </p:nvSpPr>
        <p:spPr>
          <a:xfrm>
            <a:off x="876022" y="2219148"/>
            <a:ext cx="5562043" cy="431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get_client():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{"hosts": [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(h.split(":")[0], int(h.split(":")[1]))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h in settings.AEROSPIKE_HOSTS.split(",")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]}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aerospike.client(config).connect()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query(namespace, set_name, key):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get_client()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key_tuple = (namespace, set_name, key)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_, bins = client.get(key_tuple)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client.close()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{"success": True, "data": bins}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080" dirty="0">
              <a:solidFill>
                <a:srgbClr val="FFFFFF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11607"/>
              </a:lnSpc>
              <a:buNone/>
            </a:pPr>
            <a:r>
              <a:rPr lang="en-US" sz="11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def write(namespace: str, </a:t>
            </a:r>
            <a:r>
              <a:rPr lang="en-US" sz="1100" b="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en-US" sz="11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: str, key: str, bins: </a:t>
            </a:r>
            <a:r>
              <a:rPr lang="en-US" sz="1100" b="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sz="11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1607"/>
              </a:lnSpc>
              <a:buNone/>
            </a:pP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try:</a:t>
            </a:r>
          </a:p>
          <a:p>
            <a:pPr>
              <a:lnSpc>
                <a:spcPct val="111607"/>
              </a:lnSpc>
              <a:buNone/>
            </a:pP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client = </a:t>
            </a:r>
            <a:r>
              <a:rPr lang="en-US" sz="11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get_client</a:t>
            </a: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1607"/>
              </a:lnSpc>
              <a:buNone/>
            </a:pP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key_tuple</a:t>
            </a: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= (namespace, </a:t>
            </a:r>
            <a:r>
              <a:rPr lang="en-US" sz="11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key)</a:t>
            </a:r>
          </a:p>
          <a:p>
            <a:pPr>
              <a:lnSpc>
                <a:spcPct val="111607"/>
              </a:lnSpc>
              <a:buNone/>
            </a:pP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client.put</a:t>
            </a: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key_tuple</a:t>
            </a: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bins)</a:t>
            </a:r>
          </a:p>
          <a:p>
            <a:pPr>
              <a:lnSpc>
                <a:spcPct val="111607"/>
              </a:lnSpc>
              <a:buNone/>
            </a:pP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client.close</a:t>
            </a: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1607"/>
              </a:lnSpc>
              <a:buNone/>
            </a:pPr>
            <a:r>
              <a:rPr lang="en-US" sz="11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return {"success": True, "message": "Record written"}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</p:txBody>
      </p:sp>
      <p:sp>
        <p:nvSpPr>
          <p:cNvPr id="6" name="Circle"/>
          <p:cNvSpPr/>
          <p:nvPr/>
        </p:nvSpPr>
        <p:spPr>
          <a:xfrm>
            <a:off x="6929350" y="2094839"/>
            <a:ext cx="310896" cy="24486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"/>
          <p:cNvSpPr/>
          <p:nvPr/>
        </p:nvSpPr>
        <p:spPr>
          <a:xfrm>
            <a:off x="6929350" y="2094839"/>
            <a:ext cx="310896" cy="24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"/>
          <p:cNvSpPr/>
          <p:nvPr/>
        </p:nvSpPr>
        <p:spPr>
          <a:xfrm>
            <a:off x="7386550" y="2058263"/>
            <a:ext cx="4069080" cy="28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come from one comma-separated setting</a:t>
            </a:r>
            <a:endParaRPr lang="en-US" sz="1250" dirty="0"/>
          </a:p>
        </p:txBody>
      </p:sp>
      <p:sp>
        <p:nvSpPr>
          <p:cNvPr id="9" name="Text"/>
          <p:cNvSpPr/>
          <p:nvPr/>
        </p:nvSpPr>
        <p:spPr>
          <a:xfrm>
            <a:off x="7386550" y="2405735"/>
            <a:ext cx="4069080" cy="56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AEROSPIKE_HOSTS is split into (host, port) tuples, so the pool is configured from a single env variable.</a:t>
            </a:r>
            <a:endParaRPr lang="en-US" sz="1080" dirty="0"/>
          </a:p>
        </p:txBody>
      </p:sp>
      <p:sp>
        <p:nvSpPr>
          <p:cNvPr id="10" name="Circle"/>
          <p:cNvSpPr/>
          <p:nvPr/>
        </p:nvSpPr>
        <p:spPr>
          <a:xfrm>
            <a:off x="6929350" y="3085153"/>
            <a:ext cx="310896" cy="24486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"/>
          <p:cNvSpPr/>
          <p:nvPr/>
        </p:nvSpPr>
        <p:spPr>
          <a:xfrm>
            <a:off x="6929350" y="3085153"/>
            <a:ext cx="310896" cy="24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"/>
          <p:cNvSpPr/>
          <p:nvPr/>
        </p:nvSpPr>
        <p:spPr>
          <a:xfrm>
            <a:off x="7386550" y="3048577"/>
            <a:ext cx="4069080" cy="28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key is a 3-part tuple</a:t>
            </a:r>
            <a:endParaRPr lang="en-US" sz="1250" dirty="0"/>
          </a:p>
        </p:txBody>
      </p:sp>
      <p:sp>
        <p:nvSpPr>
          <p:cNvPr id="13" name="Text"/>
          <p:cNvSpPr/>
          <p:nvPr/>
        </p:nvSpPr>
        <p:spPr>
          <a:xfrm>
            <a:off x="7386550" y="3396049"/>
            <a:ext cx="4069080" cy="56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Aerospike addresses every record as (namespace, set, key) — that tuple is built fresh inside each function.</a:t>
            </a:r>
            <a:endParaRPr lang="en-US" sz="1080" dirty="0"/>
          </a:p>
        </p:txBody>
      </p:sp>
      <p:sp>
        <p:nvSpPr>
          <p:cNvPr id="14" name="Circle"/>
          <p:cNvSpPr/>
          <p:nvPr/>
        </p:nvSpPr>
        <p:spPr>
          <a:xfrm>
            <a:off x="6929350" y="4066843"/>
            <a:ext cx="310896" cy="24486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"/>
          <p:cNvSpPr/>
          <p:nvPr/>
        </p:nvSpPr>
        <p:spPr>
          <a:xfrm>
            <a:off x="6929350" y="4066843"/>
            <a:ext cx="310896" cy="24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"/>
          <p:cNvSpPr/>
          <p:nvPr/>
        </p:nvSpPr>
        <p:spPr>
          <a:xfrm>
            <a:off x="7386550" y="4030267"/>
            <a:ext cx="4069080" cy="28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RecordNotFound is caught before Exception</a:t>
            </a:r>
            <a:endParaRPr lang="en-US" sz="1250" dirty="0"/>
          </a:p>
        </p:txBody>
      </p:sp>
      <p:sp>
        <p:nvSpPr>
          <p:cNvPr id="17" name="Text"/>
          <p:cNvSpPr/>
          <p:nvPr/>
        </p:nvSpPr>
        <p:spPr>
          <a:xfrm>
            <a:off x="7386550" y="4377739"/>
            <a:ext cx="4069080" cy="56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 and delete() special-case aerospike_exception.RecordNotFound so a missing key isn't reported as a generic failure.</a:t>
            </a:r>
            <a:endParaRPr lang="en-US" sz="1080" dirty="0"/>
          </a:p>
        </p:txBody>
      </p:sp>
      <p:sp>
        <p:nvSpPr>
          <p:cNvPr id="18" name="Circle"/>
          <p:cNvSpPr/>
          <p:nvPr/>
        </p:nvSpPr>
        <p:spPr>
          <a:xfrm>
            <a:off x="6929350" y="5186549"/>
            <a:ext cx="310896" cy="24486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"/>
          <p:cNvSpPr/>
          <p:nvPr/>
        </p:nvSpPr>
        <p:spPr>
          <a:xfrm>
            <a:off x="6929350" y="5186549"/>
            <a:ext cx="310896" cy="24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"/>
          <p:cNvSpPr/>
          <p:nvPr/>
        </p:nvSpPr>
        <p:spPr>
          <a:xfrm>
            <a:off x="7386550" y="5149973"/>
            <a:ext cx="4069080" cy="28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closes the client</a:t>
            </a:r>
            <a:endParaRPr lang="en-US" sz="1250" dirty="0"/>
          </a:p>
        </p:txBody>
      </p:sp>
      <p:sp>
        <p:nvSpPr>
          <p:cNvPr id="21" name="Text"/>
          <p:cNvSpPr/>
          <p:nvPr/>
        </p:nvSpPr>
        <p:spPr>
          <a:xfrm>
            <a:off x="7386550" y="5497445"/>
            <a:ext cx="4069080" cy="56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health(), query(), write(), delete() and scan() each call client.close() before returning — no pooled connections are held open.</a:t>
            </a:r>
            <a:endParaRPr lang="en-US" sz="1080" dirty="0"/>
          </a:p>
        </p:txBody>
      </p:sp>
      <p:sp>
        <p:nvSpPr>
          <p:cNvPr id="22" name="Text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0BDC17-2801-7116-9960-558CF22FEE6D}"/>
              </a:ext>
            </a:extLst>
          </p:cNvPr>
          <p:cNvSpPr txBox="1"/>
          <p:nvPr/>
        </p:nvSpPr>
        <p:spPr>
          <a:xfrm>
            <a:off x="407598" y="327063"/>
            <a:ext cx="609456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Basic Connector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YugabyteDB Connector — Code Walkthrough</a:t>
            </a:r>
            <a:endParaRPr lang="en-US" sz="2500" dirty="0"/>
          </a:p>
        </p:txBody>
      </p:sp>
      <p:sp>
        <p:nvSpPr>
          <p:cNvPr id="3" name="Text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 :get connection() and one execute() that every read or write goes through.</a:t>
            </a:r>
            <a:endParaRPr lang="en-US" sz="1300" dirty="0"/>
          </a:p>
        </p:txBody>
      </p:sp>
      <p:sp>
        <p:nvSpPr>
          <p:cNvPr id="4" name="CodeBG"/>
          <p:cNvSpPr/>
          <p:nvPr/>
        </p:nvSpPr>
        <p:spPr>
          <a:xfrm>
            <a:off x="548640" y="1499616"/>
            <a:ext cx="6400800" cy="5159976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</p:sp>
      <p:sp>
        <p:nvSpPr>
          <p:cNvPr id="5" name="CodeText"/>
          <p:cNvSpPr/>
          <p:nvPr/>
        </p:nvSpPr>
        <p:spPr>
          <a:xfrm>
            <a:off x="789144" y="1687068"/>
            <a:ext cx="6233448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get_connection():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psycopg2.connect(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host=settings.YUGABYTE_HOST,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port=settings.YUGABYTE_PORT,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database=settings.YUGABYTE_DATABASE,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user=settings.YUGABYTE_USER,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password=settings.YUGABYTE_PASSWORD)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execute(sql):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 = get_connection()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conn.cursor(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cursor_factory=RealDictCursor) as cur: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cur.execute(sql)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cur.fetchall()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conn.commit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>
              <a:lnSpc>
                <a:spcPct val="111607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b="0" dirty="0" err="1">
                <a:solidFill>
                  <a:srgbClr val="E6EDF3"/>
                </a:solidFill>
                <a:effectLst/>
                <a:latin typeface="Consolas" panose="020B0609020204030204" pitchFamily="49" charset="0"/>
              </a:rPr>
              <a:t>conn.</a:t>
            </a:r>
            <a:r>
              <a:rPr lang="en-US" sz="105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050" b="0" dirty="0">
                <a:solidFill>
                  <a:srgbClr val="E6EDF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05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050" dirty="0">
              <a:solidFill>
                <a:srgbClr val="FFFFF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def query(</a:t>
            </a:r>
            <a:r>
              <a:rPr lang="en-US" sz="105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sql</a:t>
            </a:r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str):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return execute(</a:t>
            </a:r>
            <a:r>
              <a:rPr lang="en-US" sz="1050" dirty="0" err="1">
                <a:solidFill>
                  <a:schemeClr val="bg1"/>
                </a:solidFill>
              </a:rPr>
              <a:t>sql</a:t>
            </a:r>
            <a:r>
              <a:rPr lang="en-US" sz="1050" dirty="0">
                <a:solidFill>
                  <a:schemeClr val="bg1"/>
                </a:solidFill>
              </a:rPr>
              <a:t>)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def insert(table: str, data: </a:t>
            </a:r>
            <a:r>
              <a:rPr lang="en-US" sz="1050" b="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sz="105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columns = ", ".join(</a:t>
            </a:r>
            <a:r>
              <a:rPr lang="en-US" sz="105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data.keys</a:t>
            </a: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placeholders = ", ".join(["%s"] * </a:t>
            </a:r>
            <a:r>
              <a:rPr lang="en-US" sz="105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(data))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values = tuple(</a:t>
            </a:r>
            <a:r>
              <a:rPr lang="en-US" sz="105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data.values</a:t>
            </a: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f"INSERT</a:t>
            </a:r>
            <a:r>
              <a:rPr lang="en-US" sz="105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INTO {table} ({columns}) VALUES ({placeholders}) RETURNING *"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br>
              <a:rPr lang="en-US" dirty="0"/>
            </a:br>
            <a:endParaRPr lang="en-US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6" name="Circle"/>
          <p:cNvSpPr/>
          <p:nvPr/>
        </p:nvSpPr>
        <p:spPr>
          <a:xfrm>
            <a:off x="7086600" y="172821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"/>
          <p:cNvSpPr/>
          <p:nvPr/>
        </p:nvSpPr>
        <p:spPr>
          <a:xfrm>
            <a:off x="708660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"/>
          <p:cNvSpPr/>
          <p:nvPr/>
        </p:nvSpPr>
        <p:spPr>
          <a:xfrm>
            <a:off x="754380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 is the one door every call uses</a:t>
            </a:r>
            <a:endParaRPr lang="en-US" sz="1250" dirty="0"/>
          </a:p>
        </p:txBody>
      </p:sp>
      <p:sp>
        <p:nvSpPr>
          <p:cNvPr id="9" name="Text"/>
          <p:cNvSpPr/>
          <p:nvPr/>
        </p:nvSpPr>
        <p:spPr>
          <a:xfrm>
            <a:off x="7543800" y="2039112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query, insert, update and delete all route through execute() (or share its connect → cursor → commit → close shape).</a:t>
            </a:r>
            <a:endParaRPr lang="en-US" sz="1080" dirty="0"/>
          </a:p>
        </p:txBody>
      </p:sp>
      <p:sp>
        <p:nvSpPr>
          <p:cNvPr id="10" name="Circle"/>
          <p:cNvSpPr/>
          <p:nvPr/>
        </p:nvSpPr>
        <p:spPr>
          <a:xfrm>
            <a:off x="7086600" y="291693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"/>
          <p:cNvSpPr/>
          <p:nvPr/>
        </p:nvSpPr>
        <p:spPr>
          <a:xfrm>
            <a:off x="70866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"/>
          <p:cNvSpPr/>
          <p:nvPr/>
        </p:nvSpPr>
        <p:spPr>
          <a:xfrm>
            <a:off x="7543800" y="2880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RealDictCursor returns dict rows</a:t>
            </a:r>
            <a:endParaRPr lang="en-US" sz="1250" dirty="0"/>
          </a:p>
        </p:txBody>
      </p:sp>
      <p:sp>
        <p:nvSpPr>
          <p:cNvPr id="13" name="Text"/>
          <p:cNvSpPr/>
          <p:nvPr/>
        </p:nvSpPr>
        <p:spPr>
          <a:xfrm>
            <a:off x="7543800" y="3227832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come back as plain dicts instead of tuples, so callers can read them like the "bins" dict from Aerospike.</a:t>
            </a:r>
            <a:endParaRPr lang="en-US" sz="1080" dirty="0"/>
          </a:p>
        </p:txBody>
      </p:sp>
      <p:sp>
        <p:nvSpPr>
          <p:cNvPr id="14" name="Circle"/>
          <p:cNvSpPr/>
          <p:nvPr/>
        </p:nvSpPr>
        <p:spPr>
          <a:xfrm>
            <a:off x="7086600" y="410565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"/>
          <p:cNvSpPr/>
          <p:nvPr/>
        </p:nvSpPr>
        <p:spPr>
          <a:xfrm>
            <a:off x="7086600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"/>
          <p:cNvSpPr/>
          <p:nvPr/>
        </p:nvSpPr>
        <p:spPr>
          <a:xfrm>
            <a:off x="7543800" y="40690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parameterized, never interpolated</a:t>
            </a:r>
            <a:endParaRPr lang="en-US" sz="1250" dirty="0"/>
          </a:p>
        </p:txBody>
      </p:sp>
      <p:sp>
        <p:nvSpPr>
          <p:cNvPr id="17" name="Text"/>
          <p:cNvSpPr/>
          <p:nvPr/>
        </p:nvSpPr>
        <p:spPr>
          <a:xfrm>
            <a:off x="7543800" y="4416552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insert()/update()/delete() build %s placeholders for values; only column and table names are ever f-string'd.</a:t>
            </a:r>
            <a:endParaRPr lang="en-US" sz="1080" dirty="0"/>
          </a:p>
        </p:txBody>
      </p:sp>
      <p:sp>
        <p:nvSpPr>
          <p:cNvPr id="18" name="Circle"/>
          <p:cNvSpPr/>
          <p:nvPr/>
        </p:nvSpPr>
        <p:spPr>
          <a:xfrm>
            <a:off x="7086600" y="529437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"/>
          <p:cNvSpPr/>
          <p:nvPr/>
        </p:nvSpPr>
        <p:spPr>
          <a:xfrm>
            <a:off x="708660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"/>
          <p:cNvSpPr/>
          <p:nvPr/>
        </p:nvSpPr>
        <p:spPr>
          <a:xfrm>
            <a:off x="7543800" y="5257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ends in commit(), then close()</a:t>
            </a:r>
            <a:endParaRPr lang="en-US" sz="1250" dirty="0"/>
          </a:p>
        </p:txBody>
      </p:sp>
      <p:sp>
        <p:nvSpPr>
          <p:cNvPr id="21" name="Text"/>
          <p:cNvSpPr/>
          <p:nvPr/>
        </p:nvSpPr>
        <p:spPr>
          <a:xfrm>
            <a:off x="7543800" y="5605272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both close the connection in the same function that opened it — nothing is left dangling.</a:t>
            </a:r>
            <a:endParaRPr lang="en-US" sz="1080" dirty="0"/>
          </a:p>
        </p:txBody>
      </p:sp>
      <p:sp>
        <p:nvSpPr>
          <p:cNvPr id="22" name="Text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91B41-E392-C37E-3EBC-053DE5CC1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66A039CE-8777-2B90-BA85-386B789A4119}"/>
              </a:ext>
            </a:extLst>
          </p:cNvPr>
          <p:cNvSpPr/>
          <p:nvPr/>
        </p:nvSpPr>
        <p:spPr>
          <a:xfrm>
            <a:off x="4339088" y="2749238"/>
            <a:ext cx="30560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9654F52-D654-2233-83FA-4BE1AA256910}"/>
              </a:ext>
            </a:extLst>
          </p:cNvPr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B4692B8F-A146-A5FA-2E37-0DD4A9533125}"/>
              </a:ext>
            </a:extLst>
          </p:cNvPr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82134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1170</Words>
  <Application>Microsoft Office PowerPoint</Application>
  <PresentationFormat>Widescreen</PresentationFormat>
  <Paragraphs>176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Salvi Priya</cp:lastModifiedBy>
  <cp:revision>3</cp:revision>
  <dcterms:created xsi:type="dcterms:W3CDTF">2026-09-02T05:08:44Z</dcterms:created>
  <dcterms:modified xsi:type="dcterms:W3CDTF">2026-09-02T06:52:49Z</dcterms:modified>
</cp:coreProperties>
</file>