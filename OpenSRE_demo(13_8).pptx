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8580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-548640"/>
            <a:ext cx="2377440" cy="23774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858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 ·  KUBERNETES  ·  AI OBSERVABILITY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3317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OpenSRE Dashboard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58368" y="34290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F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Kubernetes Observability Platform for Monitoring,</a:t>
            </a:r>
            <a:endParaRPr lang="en-US" sz="17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F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&amp; Incident Analysis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772400" y="610819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OpenSRE Dashboard does and why it matters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577840" cy="4434840"/>
          </a:xfrm>
          <a:prstGeom prst="roundRect">
            <a:avLst>
              <a:gd name="adj" fmla="val 1649"/>
            </a:avLst>
          </a:prstGeom>
          <a:solidFill>
            <a:srgbClr val="F2F6F9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OpenSRE, Kubernetes, VictoriaMetrics, OpenTelemetry and Grafana into one unified dashboard.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centralized experience for cluster monitoring, troubleshooting, and AI-assisted incident analysis.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modern observability tooling can be layered with AI to simplify day-2 Kubernetes operations.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40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as a reproducible local environment — ideal for learning and experimentation before production rollout.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46520" y="160020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75120" y="1892808"/>
            <a:ext cx="786384" cy="78638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75120" y="189280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58100" y="18928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635240" y="2167128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cluster, node, pod and service visibility in one view.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46520" y="3172968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675120" y="3465576"/>
            <a:ext cx="786384" cy="78638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75120" y="346557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635240" y="345403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35240" y="3739896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diagnostics via the OpenSRE CLI, in-dashboard.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46520" y="4745736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675120" y="5038344"/>
            <a:ext cx="786384" cy="786384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675120" y="503834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35240" y="500017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with AI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35240" y="5312664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root-cause insight on top of collected telemetry.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Dashboard  |  AI_labtest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96926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flow from the React dashboard through the backend to the observability stack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480560" y="1508760"/>
            <a:ext cx="3200400" cy="658368"/>
          </a:xfrm>
          <a:prstGeom prst="roundRect">
            <a:avLst>
              <a:gd name="adj" fmla="val 9722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480560" y="158191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80560" y="18928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(Vite)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080760" y="2167128"/>
            <a:ext cx="0" cy="34747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263640" y="22128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977640" y="2514600"/>
            <a:ext cx="4206240" cy="658368"/>
          </a:xfrm>
          <a:prstGeom prst="roundRect">
            <a:avLst>
              <a:gd name="adj" fmla="val 9722"/>
            </a:avLst>
          </a:prstGeom>
          <a:solidFill>
            <a:srgbClr val="21295C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977640" y="2587752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77640" y="2898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API Layer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80760" y="3172968"/>
            <a:ext cx="0" cy="164592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0" y="3337560"/>
            <a:ext cx="758952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0" y="3337560"/>
            <a:ext cx="0" cy="1645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080760" y="3337560"/>
            <a:ext cx="0" cy="1645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9875520" y="3337560"/>
            <a:ext cx="0" cy="164592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31520" y="3520440"/>
            <a:ext cx="3108960" cy="658368"/>
          </a:xfrm>
          <a:prstGeom prst="roundRect">
            <a:avLst>
              <a:gd name="adj" fmla="val 9722"/>
            </a:avLst>
          </a:prstGeom>
          <a:solidFill>
            <a:srgbClr val="1C7293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5935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31520" y="3904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 (nodes, pods, svc)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26280" y="3520440"/>
            <a:ext cx="3108960" cy="658368"/>
          </a:xfrm>
          <a:prstGeom prst="roundRect">
            <a:avLst>
              <a:gd name="adj" fmla="val 9722"/>
            </a:avLst>
          </a:prstGeom>
          <a:solidFill>
            <a:srgbClr val="1C7293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26280" y="3593592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CLI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3904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/ diagnostics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321040" y="3520440"/>
            <a:ext cx="3136392" cy="658368"/>
          </a:xfrm>
          <a:prstGeom prst="roundRect">
            <a:avLst>
              <a:gd name="adj" fmla="val 9722"/>
            </a:avLst>
          </a:prstGeom>
          <a:solidFill>
            <a:srgbClr val="1C7293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21040" y="3593592"/>
            <a:ext cx="3136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321040" y="3904488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store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893808" y="4178808"/>
            <a:ext cx="0" cy="42062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321040" y="4599432"/>
            <a:ext cx="3136392" cy="621792"/>
          </a:xfrm>
          <a:prstGeom prst="roundRect">
            <a:avLst>
              <a:gd name="adj" fmla="val 10294"/>
            </a:avLst>
          </a:prstGeom>
          <a:solidFill>
            <a:srgbClr val="065A82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321040" y="4599432"/>
            <a:ext cx="31363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Collector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893808" y="5221224"/>
            <a:ext cx="0" cy="402336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21040" y="5623560"/>
            <a:ext cx="3136392" cy="621792"/>
          </a:xfrm>
          <a:prstGeom prst="roundRect">
            <a:avLst>
              <a:gd name="adj" fmla="val 10294"/>
            </a:avLst>
          </a:prstGeom>
          <a:solidFill>
            <a:srgbClr val="21295C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21040" y="569671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321040" y="5971032"/>
            <a:ext cx="3136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31520" y="4526280"/>
            <a:ext cx="7086600" cy="1691640"/>
          </a:xfrm>
          <a:prstGeom prst="roundRect">
            <a:avLst>
              <a:gd name="adj" fmla="val 4324"/>
            </a:avLst>
          </a:prstGeom>
          <a:solidFill>
            <a:srgbClr val="F2F6F9"/>
          </a:solidFill>
          <a:ln w="12700">
            <a:solidFill>
              <a:srgbClr val="E3E9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60120" y="465429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components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60120" y="4937760"/>
            <a:ext cx="6629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vmagent — scrapes and forwards metrics into VictoriaMetrics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600"/>
              </a:spcAft>
              <a:buSzPct val="100000"/>
              <a:buChar char="●"/>
            </a:pPr>
            <a:r>
              <a:rPr lang="en-US" sz="115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 — builds and runs the containerized sample application (catalog-api)</a:t>
            </a:r>
            <a:endParaRPr lang="en-US" sz="1150" dirty="0"/>
          </a:p>
          <a:p>
            <a:pPr marL="342900" indent="-342900">
              <a:lnSpc>
                <a:spcPct val="110000"/>
              </a:lnSpc>
              <a:buSzPct val="100000"/>
              <a:buChar char="●"/>
            </a:pPr>
            <a:r>
              <a:rPr lang="en-US" sz="115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— installs the observability stack into the Kind cluster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Dashboard  |  AI_labtest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tools and frameworks powering each layer of the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2F6F9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36192" y="1929384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536192" y="19293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49808" y="286207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320040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19856" y="169164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2F6F9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15968" y="1929384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15968" y="19293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29584" y="286207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29584" y="320040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99632" y="169164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2F6F9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095744" y="1929384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095744" y="19293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86207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979408" y="1691640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2F6F9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875520" y="1929384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75520" y="1929384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89136" y="286207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089136" y="3200400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822192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2F6F9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536192" y="4059936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536192" y="40599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9808" y="49926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33095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Store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419856" y="3822192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2F6F9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315968" y="4059936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315968" y="40599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529584" y="49926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529584" y="533095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99632" y="3822192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2F6F9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095744" y="4059936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095744" y="40599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09360" y="49926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6309360" y="533095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979408" y="3822192"/>
            <a:ext cx="2615184" cy="1874520"/>
          </a:xfrm>
          <a:prstGeom prst="roundRect">
            <a:avLst>
              <a:gd name="adj" fmla="val 3902"/>
            </a:avLst>
          </a:prstGeom>
          <a:solidFill>
            <a:srgbClr val="F2F6F9"/>
          </a:solidFill>
          <a:ln/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9875520" y="4059936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875520" y="4059936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89136" y="4992624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9089136" y="533095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Layer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58368" y="60807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use: Python 3.13 · pip · Bruno (API testing) · Git &amp; GitHub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Dashboard  |  AI_labtest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Capabilities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pages covering the full observability &amp; AI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101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200253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9536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202082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59536" y="269748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overview — node, pod, service &amp; deployment counts, health summary.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51376" y="1783080"/>
            <a:ext cx="33101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70832" y="200253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70832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65776" y="202082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4370832" y="269748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&amp; pod detail with cluster resource overview.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662672" y="1783080"/>
            <a:ext cx="33101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882128" y="2002536"/>
            <a:ext cx="566928" cy="566928"/>
          </a:xfrm>
          <a:prstGeom prst="ellipse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882128" y="2002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577072" y="202082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882128" y="269748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health status with Grafana integration.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94560" y="4251960"/>
            <a:ext cx="33101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14016" y="447141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414016" y="4471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108960" y="44897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Analysis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414016" y="516636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version, doctor output, and backend integration status.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705856" y="4251960"/>
            <a:ext cx="3310128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EF"/>
            </a:solidFill>
            <a:prstDash val="solid"/>
          </a:ln>
          <a:effectLst>
            <a:outerShdw blurRad="76200" dist="38100" dir="5400000" algn="bl" rotWithShape="0">
              <a:srgbClr val="1A1A2E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925312" y="447141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25312" y="4471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620256" y="4489704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Settings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5925312" y="516636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Kubernetes &amp; VictoriaMetrics/OpenSRE status, quick links.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Dashboard  |  AI_labtest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 &amp; Deployment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58368" y="1033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platform is stood up, and the REST surface it exposes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Workflow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96112" y="2532888"/>
            <a:ext cx="0" cy="530352"/>
          </a:xfrm>
          <a:prstGeom prst="line">
            <a:avLst/>
          </a:prstGeom>
          <a:noFill/>
          <a:ln w="15875">
            <a:solidFill>
              <a:srgbClr val="C7D4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70432" y="21305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the Kind Kubernetes cluster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04495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96112" y="3429000"/>
            <a:ext cx="0" cy="530352"/>
          </a:xfrm>
          <a:prstGeom prst="line">
            <a:avLst/>
          </a:prstGeom>
          <a:noFill/>
          <a:ln w="15875">
            <a:solidFill>
              <a:srgbClr val="C7D4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3026664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deploy the sample app (catalog-api)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96112" y="4325112"/>
            <a:ext cx="0" cy="530352"/>
          </a:xfrm>
          <a:prstGeom prst="line">
            <a:avLst/>
          </a:prstGeom>
          <a:noFill/>
          <a:ln w="15875">
            <a:solidFill>
              <a:srgbClr val="C7D4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70432" y="3922776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observability stack — VictoriaMetrics, Grafana, OpenTelemetry, vmagent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83717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4837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" y="5221224"/>
            <a:ext cx="0" cy="530352"/>
          </a:xfrm>
          <a:prstGeom prst="line">
            <a:avLst/>
          </a:prstGeom>
          <a:noFill/>
          <a:ln w="15875">
            <a:solidFill>
              <a:srgbClr val="C7D4E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70432" y="4818888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FastAPI backend (uvicorn, port 8001)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733288"/>
            <a:ext cx="384048" cy="38404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5733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571500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B47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React frontend (Vite dev server, port 5173)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26364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API Endpoints</a:t>
            </a:r>
            <a:endParaRPr lang="en-US" sz="1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2148840"/>
          <a:ext cx="5303520" cy="27432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</a:rPr>
                        <a:t>Health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759"/>
                          </a:solidFill>
                        </a:rPr>
                        <a:t>GET /api/health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</a:rPr>
                        <a:t>Kubernetes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759"/>
                          </a:solidFill>
                        </a:rPr>
                        <a:t>GET /api/kubernetes/nodes | pods | services | deployments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</a:rPr>
                        <a:t>Metrics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759"/>
                          </a:solidFill>
                        </a:rPr>
                        <a:t>GET /api/metrics/health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</a:rPr>
                        <a:t>OpenSRE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759"/>
                          </a:solidFill>
                        </a:rPr>
                        <a:t>GET /api/opensre/version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1295C"/>
                          </a:solidFill>
                        </a:rPr>
                        <a:t>OpenSRE</a:t>
                      </a:r>
                      <a:endParaRPr lang="en-US" sz="115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3B4759"/>
                          </a:solidFill>
                        </a:rPr>
                        <a:t>GET /api/opensre/doctor</a:t>
                      </a:r>
                      <a:endParaRPr lang="en-US" sz="11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Dashboard  |  AI_labtest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846320"/>
            <a:ext cx="3840480" cy="384048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&amp; 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58368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F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platform stands today, and what's next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2A356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FE3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57630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cluster (Kind)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sample application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backend integration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VictoriaMetrics &amp; vmagent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OpenTelemetry Collector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visualization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✓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REST APIs</a:t>
            </a:r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FontTx/>
              <a:buChar char="✓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incident investigation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FontTx/>
              <a:buChar char="✓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root cause analysis</a:t>
            </a:r>
            <a:endParaRPr lang="en-US" sz="1350" dirty="0"/>
          </a:p>
          <a:p>
            <a:pPr>
              <a:lnSpc>
                <a:spcPct val="110000"/>
              </a:lnSpc>
              <a:spcAft>
                <a:spcPts val="1000"/>
              </a:spcAft>
              <a:buSzPct val="100000"/>
            </a:pP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09360" y="169164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2A3568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83680" y="19202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FC7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377440"/>
            <a:ext cx="46634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Manager integration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aggregation with Loki</a:t>
            </a:r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Yugabyte/Aerospike connector integration</a:t>
            </a:r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Opik integration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incident timeline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 &amp; graphs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RBAC</a:t>
            </a:r>
            <a:endParaRPr lang="en-US" sz="1350" dirty="0"/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→"/>
            </a:pPr>
            <a:r>
              <a:rPr lang="en-US" sz="1350" dirty="0">
                <a:solidFill>
                  <a:srgbClr val="E5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on AWS</a:t>
            </a:r>
          </a:p>
          <a:p>
            <a:pPr marL="228600" indent="-228600">
              <a:lnSpc>
                <a:spcPct val="110000"/>
              </a:lnSpc>
              <a:spcAft>
                <a:spcPts val="1000"/>
              </a:spcAft>
              <a:buSzPct val="100000"/>
              <a:buChar char="→"/>
            </a:pPr>
            <a:endParaRPr lang="en-US" sz="1350" dirty="0">
              <a:solidFill>
                <a:srgbClr val="E5EAF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OpenSRE Dashboard  |  AI_labtest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457432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594</Words>
  <Application>Microsoft Office PowerPoint</Application>
  <PresentationFormat>Widescreen</PresentationFormat>
  <Paragraphs>151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Salvi Priya</cp:lastModifiedBy>
  <cp:revision>2</cp:revision>
  <dcterms:created xsi:type="dcterms:W3CDTF">2026-08-13T06:24:36Z</dcterms:created>
  <dcterms:modified xsi:type="dcterms:W3CDTF">2026-08-13T09:15:12Z</dcterms:modified>
</cp:coreProperties>
</file>